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A674C7-0DA0-06FD-AAA2-83C5B70B58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71E457-A290-66A2-25B8-E969D95EC6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EA5F94-68F9-F473-3EF7-7C5E7B1F51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411B01-40BA-3E74-C968-9501C34E9D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D5CC9B-DFE4-8FD6-45AE-B2F82AED12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81641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56784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849148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624290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0524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6299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36000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01855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825413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67314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60638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39201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2787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867341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72799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1677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12150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068091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10515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449694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05144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7076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30961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09800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371538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8196527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28574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3507526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44020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0006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474818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2739678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46633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72983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068216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416926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53475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85026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08964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294061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512966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19895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317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499490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8665298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88151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764138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06758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8461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38508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86331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325880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94609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42409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538188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574416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25098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8199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14989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6790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603028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706799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942020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6869263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03500828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33962" y="2345976"/>
            <a:ext cx="2124075" cy="295274"/>
          </a:xfrm>
          <a:prstGeom prst="rect">
            <a:avLst/>
          </a:prstGeom>
        </p:spPr>
      </p:pic>
      <p:sp>
        <p:nvSpPr>
          <p:cNvPr id="923375546" name="TextBox 3"/>
          <p:cNvSpPr txBox="1"/>
          <p:nvPr/>
        </p:nvSpPr>
        <p:spPr bwMode="auto">
          <a:xfrm>
            <a:off x="1595437" y="2869852"/>
            <a:ext cx="9001125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  <a:defRPr/>
            </a:pPr>
            <a:r>
              <a:rPr sz="4800" b="1" i="0" u="none">
                <a:solidFill>
                  <a:srgbClr val="F8FAFC"/>
                </a:solidFill>
                <a:latin typeface="Plus Jakarta Sans"/>
              </a:rPr>
              <a:t>JavaScript Set Collection</a:t>
            </a:r>
            <a:endParaRPr/>
          </a:p>
        </p:txBody>
      </p:sp>
      <p:sp>
        <p:nvSpPr>
          <p:cNvPr id="1721931986" name="TextBox 4"/>
          <p:cNvSpPr txBox="1"/>
          <p:nvPr/>
        </p:nvSpPr>
        <p:spPr bwMode="auto">
          <a:xfrm>
            <a:off x="1809749" y="3768922"/>
            <a:ext cx="8649899" cy="1571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  <a:defRPr/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Welcome for this week presentation</a:t>
            </a:r>
            <a:endParaRPr sz="1650" b="0" i="0" u="none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2474"/>
              </a:lnSpc>
              <a:defRPr/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Name:</a:t>
            </a:r>
            <a:r>
              <a:rPr sz="1800" b="1" i="1" u="none">
                <a:solidFill>
                  <a:srgbClr val="94A3B8"/>
                </a:solidFill>
                <a:latin typeface="Inter"/>
              </a:rPr>
              <a:t> Igiraneza Rukamba Adal </a:t>
            </a:r>
            <a:endParaRPr sz="1800" b="1" i="1" u="none">
              <a:solidFill>
                <a:srgbClr val="94A3B8"/>
              </a:solidFill>
              <a:latin typeface="Inter"/>
            </a:endParaRPr>
          </a:p>
          <a:p>
            <a:pPr marL="283879" indent="-283879" algn="l">
              <a:lnSpc>
                <a:spcPts val="2474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94A3B8"/>
                </a:solidFill>
                <a:latin typeface="Inter"/>
              </a:rPr>
              <a:t>What is set </a:t>
            </a:r>
            <a:endParaRPr sz="1600" b="0" i="0" u="none">
              <a:solidFill>
                <a:srgbClr val="94A3B8"/>
              </a:solidFill>
              <a:latin typeface="Inter"/>
            </a:endParaRPr>
          </a:p>
          <a:p>
            <a:pPr marL="283879" indent="-283879" algn="l">
              <a:lnSpc>
                <a:spcPts val="2474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94A3B8"/>
                </a:solidFill>
                <a:latin typeface="Inter"/>
              </a:rPr>
              <a:t>Why can you use set</a:t>
            </a:r>
            <a:endParaRPr sz="1600" b="0" i="0" u="none">
              <a:solidFill>
                <a:srgbClr val="94A3B8"/>
              </a:solidFill>
              <a:latin typeface="Inter"/>
            </a:endParaRPr>
          </a:p>
          <a:p>
            <a:pPr marL="283879" indent="-283879" algn="l">
              <a:lnSpc>
                <a:spcPts val="2474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94A3B8"/>
                </a:solidFill>
                <a:latin typeface="Inter"/>
              </a:rPr>
              <a:t>Compare Set  to Array</a:t>
            </a:r>
            <a:endParaRPr sz="165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8761403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52387" y="59827"/>
            <a:ext cx="12192000" cy="6858000"/>
          </a:xfrm>
          <a:prstGeom prst="rect">
            <a:avLst/>
          </a:prstGeom>
        </p:spPr>
      </p:pic>
      <p:pic>
        <p:nvPicPr>
          <p:cNvPr id="1145735351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0987" y="997445"/>
            <a:ext cx="5381625" cy="3072407"/>
          </a:xfrm>
          <a:prstGeom prst="rect">
            <a:avLst/>
          </a:prstGeom>
        </p:spPr>
      </p:pic>
      <p:pic>
        <p:nvPicPr>
          <p:cNvPr id="1319643557" name="Picture 3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205537" y="2249982"/>
            <a:ext cx="5381624" cy="2939206"/>
          </a:xfrm>
          <a:prstGeom prst="rect">
            <a:avLst/>
          </a:prstGeom>
        </p:spPr>
      </p:pic>
      <p:pic>
        <p:nvPicPr>
          <p:cNvPr id="1148331305" name="Picture 4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6262" y="2593478"/>
            <a:ext cx="4791075" cy="1181099"/>
          </a:xfrm>
          <a:prstGeom prst="rect">
            <a:avLst/>
          </a:prstGeom>
        </p:spPr>
      </p:pic>
      <p:sp>
        <p:nvSpPr>
          <p:cNvPr id="2079042336" name="TextBox 5"/>
          <p:cNvSpPr txBox="1"/>
          <p:nvPr/>
        </p:nvSpPr>
        <p:spPr bwMode="auto">
          <a:xfrm>
            <a:off x="576262" y="1292720"/>
            <a:ext cx="503062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Key Characteristics</a:t>
            </a:r>
            <a:endParaRPr/>
          </a:p>
        </p:txBody>
      </p:sp>
      <p:sp>
        <p:nvSpPr>
          <p:cNvPr id="47524476" name="TextBox 6"/>
          <p:cNvSpPr txBox="1"/>
          <p:nvPr/>
        </p:nvSpPr>
        <p:spPr bwMode="auto">
          <a:xfrm>
            <a:off x="576262" y="1673721"/>
            <a:ext cx="4792514" cy="7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  <a:defRPr/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A </a:t>
            </a:r>
            <a:r>
              <a:rPr sz="1300" b="1" i="0" u="none">
                <a:solidFill>
                  <a:srgbClr val="94A3B8"/>
                </a:solidFill>
                <a:latin typeface="Inter"/>
              </a:rPr>
              <a:t>Set</a:t>
            </a:r>
            <a:r>
              <a:rPr sz="1300" b="0" i="0" u="none">
                <a:solidFill>
                  <a:srgbClr val="94A3B8"/>
                </a:solidFill>
                <a:latin typeface="Inter"/>
              </a:rPr>
              <a:t> is a built-in </a:t>
            </a:r>
            <a:r>
              <a:rPr sz="1400" b="1" i="0" u="none">
                <a:solidFill>
                  <a:srgbClr val="94A3B8"/>
                </a:solidFill>
                <a:latin typeface="Inter"/>
              </a:rPr>
              <a:t>object </a:t>
            </a:r>
            <a:r>
              <a:rPr sz="1300" b="0" i="0" u="none">
                <a:solidFill>
                  <a:srgbClr val="94A3B8"/>
                </a:solidFill>
                <a:latin typeface="Inter"/>
              </a:rPr>
              <a:t>that stores </a:t>
            </a:r>
            <a:r>
              <a:rPr sz="1400" b="1" i="0" u="none">
                <a:solidFill>
                  <a:srgbClr val="94A3B8"/>
                </a:solidFill>
                <a:latin typeface="Inter"/>
              </a:rPr>
              <a:t>collections of unique values</a:t>
            </a:r>
            <a:r>
              <a:rPr sz="1300" b="0" i="0" u="none">
                <a:solidFill>
                  <a:srgbClr val="94A3B8"/>
                </a:solidFill>
                <a:latin typeface="Inter"/>
              </a:rPr>
              <a:t> of any type, whether primitive values or object references.</a:t>
            </a:r>
            <a:endParaRPr/>
          </a:p>
        </p:txBody>
      </p:sp>
      <p:sp>
        <p:nvSpPr>
          <p:cNvPr id="864966934" name="TextBox 7"/>
          <p:cNvSpPr txBox="1"/>
          <p:nvPr/>
        </p:nvSpPr>
        <p:spPr bwMode="auto">
          <a:xfrm>
            <a:off x="6500812" y="2545257"/>
            <a:ext cx="503062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Set vs Array</a:t>
            </a:r>
            <a:endParaRPr/>
          </a:p>
        </p:txBody>
      </p:sp>
      <p:sp>
        <p:nvSpPr>
          <p:cNvPr id="636266778" name="TextBox 8"/>
          <p:cNvSpPr txBox="1"/>
          <p:nvPr/>
        </p:nvSpPr>
        <p:spPr bwMode="auto">
          <a:xfrm>
            <a:off x="6500812" y="2926257"/>
            <a:ext cx="47910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  <a:defRPr/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Unlike Arrays, Sets forbid duplicate values and do not use numeric indexing. They maintain insertion order and provide high-performance operations.</a:t>
            </a:r>
            <a:endParaRPr/>
          </a:p>
        </p:txBody>
      </p:sp>
      <p:sp>
        <p:nvSpPr>
          <p:cNvPr id="1657863142" name="TextBox 9"/>
          <p:cNvSpPr txBox="1"/>
          <p:nvPr/>
        </p:nvSpPr>
        <p:spPr bwMode="auto">
          <a:xfrm>
            <a:off x="776287" y="2764928"/>
            <a:ext cx="428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F472B6"/>
                </a:solidFill>
                <a:latin typeface="Fira Code"/>
              </a:rPr>
              <a:t>const</a:t>
            </a:r>
            <a:endParaRPr/>
          </a:p>
        </p:txBody>
      </p:sp>
      <p:sp>
        <p:nvSpPr>
          <p:cNvPr id="285747133" name="TextBox 10"/>
          <p:cNvSpPr txBox="1"/>
          <p:nvPr/>
        </p:nvSpPr>
        <p:spPr bwMode="auto">
          <a:xfrm flipH="0" flipV="0">
            <a:off x="1976437" y="2764928"/>
            <a:ext cx="407157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F472B6"/>
                </a:solidFill>
                <a:latin typeface="Fira Code"/>
              </a:rPr>
              <a:t>new</a:t>
            </a:r>
            <a:endParaRPr/>
          </a:p>
        </p:txBody>
      </p:sp>
      <p:sp>
        <p:nvSpPr>
          <p:cNvPr id="467815319" name="TextBox 11"/>
          <p:cNvSpPr txBox="1"/>
          <p:nvPr/>
        </p:nvSpPr>
        <p:spPr bwMode="auto">
          <a:xfrm>
            <a:off x="2319337" y="2764928"/>
            <a:ext cx="257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38BDF8"/>
                </a:solidFill>
                <a:latin typeface="Fira Code"/>
              </a:rPr>
              <a:t>Set</a:t>
            </a:r>
            <a:endParaRPr/>
          </a:p>
        </p:txBody>
      </p:sp>
      <p:sp>
        <p:nvSpPr>
          <p:cNvPr id="2068369692" name="TextBox 12"/>
          <p:cNvSpPr txBox="1"/>
          <p:nvPr/>
        </p:nvSpPr>
        <p:spPr bwMode="auto">
          <a:xfrm>
            <a:off x="1290637" y="2979240"/>
            <a:ext cx="257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38BDF8"/>
                </a:solidFill>
                <a:latin typeface="Fira Code"/>
              </a:rPr>
              <a:t>add</a:t>
            </a:r>
            <a:endParaRPr/>
          </a:p>
        </p:txBody>
      </p:sp>
      <p:sp>
        <p:nvSpPr>
          <p:cNvPr id="1955453403" name="TextBox 13"/>
          <p:cNvSpPr txBox="1"/>
          <p:nvPr/>
        </p:nvSpPr>
        <p:spPr bwMode="auto">
          <a:xfrm>
            <a:off x="1633537" y="2979240"/>
            <a:ext cx="257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FBBF24"/>
                </a:solidFill>
                <a:latin typeface="Fira Code"/>
              </a:rPr>
              <a:t>100</a:t>
            </a:r>
            <a:endParaRPr/>
          </a:p>
        </p:txBody>
      </p:sp>
      <p:sp>
        <p:nvSpPr>
          <p:cNvPr id="283544249" name="TextBox 14"/>
          <p:cNvSpPr txBox="1"/>
          <p:nvPr/>
        </p:nvSpPr>
        <p:spPr bwMode="auto">
          <a:xfrm>
            <a:off x="1290637" y="3193553"/>
            <a:ext cx="257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38BDF8"/>
                </a:solidFill>
                <a:latin typeface="Fira Code"/>
              </a:rPr>
              <a:t>add</a:t>
            </a:r>
            <a:endParaRPr/>
          </a:p>
        </p:txBody>
      </p:sp>
      <p:sp>
        <p:nvSpPr>
          <p:cNvPr id="1034918762" name="TextBox 15"/>
          <p:cNvSpPr txBox="1"/>
          <p:nvPr/>
        </p:nvSpPr>
        <p:spPr bwMode="auto">
          <a:xfrm>
            <a:off x="1633537" y="3193553"/>
            <a:ext cx="428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4ADE80"/>
                </a:solidFill>
                <a:latin typeface="Fira Code"/>
              </a:rPr>
              <a:t>'ES6'</a:t>
            </a:r>
            <a:endParaRPr/>
          </a:p>
        </p:txBody>
      </p:sp>
      <p:sp>
        <p:nvSpPr>
          <p:cNvPr id="1626301947" name="TextBox 16"/>
          <p:cNvSpPr txBox="1"/>
          <p:nvPr/>
        </p:nvSpPr>
        <p:spPr bwMode="auto">
          <a:xfrm>
            <a:off x="1290637" y="3407865"/>
            <a:ext cx="257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38BDF8"/>
                </a:solidFill>
                <a:latin typeface="Fira Code"/>
              </a:rPr>
              <a:t>add</a:t>
            </a:r>
            <a:endParaRPr/>
          </a:p>
        </p:txBody>
      </p:sp>
      <p:sp>
        <p:nvSpPr>
          <p:cNvPr id="1173641372" name="TextBox 17"/>
          <p:cNvSpPr txBox="1"/>
          <p:nvPr/>
        </p:nvSpPr>
        <p:spPr bwMode="auto">
          <a:xfrm>
            <a:off x="1633537" y="3407865"/>
            <a:ext cx="2571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FBBF24"/>
                </a:solidFill>
                <a:latin typeface="Fira Code"/>
              </a:rPr>
              <a:t>100</a:t>
            </a:r>
            <a:endParaRPr/>
          </a:p>
        </p:txBody>
      </p:sp>
      <p:sp>
        <p:nvSpPr>
          <p:cNvPr id="1239270613" name="TextBox 18"/>
          <p:cNvSpPr txBox="1"/>
          <p:nvPr/>
        </p:nvSpPr>
        <p:spPr bwMode="auto">
          <a:xfrm>
            <a:off x="2147887" y="3407865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1" u="none">
                <a:solidFill>
                  <a:srgbClr val="64748B"/>
                </a:solidFill>
                <a:latin typeface="Fira Code"/>
              </a:rPr>
              <a:t>// Duplicate ignored!</a:t>
            </a:r>
            <a:endParaRPr/>
          </a:p>
        </p:txBody>
      </p:sp>
      <p:sp>
        <p:nvSpPr>
          <p:cNvPr id="1499113292" name="TextBox 19"/>
          <p:cNvSpPr txBox="1"/>
          <p:nvPr/>
        </p:nvSpPr>
        <p:spPr bwMode="auto">
          <a:xfrm>
            <a:off x="6596062" y="384696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1493809513" name="TextBox 20"/>
          <p:cNvSpPr txBox="1"/>
          <p:nvPr/>
        </p:nvSpPr>
        <p:spPr bwMode="auto">
          <a:xfrm>
            <a:off x="6691312" y="3846015"/>
            <a:ext cx="4600575" cy="258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  <a:defRPr/>
            </a:pPr>
            <a:r>
              <a:rPr sz="1300" b="1" i="0" u="none">
                <a:solidFill>
                  <a:srgbClr val="94A3B8"/>
                </a:solidFill>
                <a:latin typeface="Inter"/>
              </a:rPr>
              <a:t>Uniqueness:</a:t>
            </a:r>
            <a:r>
              <a:rPr sz="1300" b="0" i="0" u="none">
                <a:solidFill>
                  <a:srgbClr val="94A3B8"/>
                </a:solidFill>
                <a:latin typeface="Inter"/>
              </a:rPr>
              <a:t> Automatic deduplication.</a:t>
            </a:r>
            <a:endParaRPr/>
          </a:p>
        </p:txBody>
      </p:sp>
      <p:sp>
        <p:nvSpPr>
          <p:cNvPr id="1160951970" name="TextBox 21"/>
          <p:cNvSpPr txBox="1"/>
          <p:nvPr/>
        </p:nvSpPr>
        <p:spPr bwMode="auto">
          <a:xfrm>
            <a:off x="6596062" y="4201178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0" i="0" u="none">
                <a:solidFill>
                  <a:srgbClr val="94A3B8"/>
                </a:solidFill>
                <a:latin typeface="Inter"/>
              </a:rPr>
              <a:t>•</a:t>
            </a:r>
            <a:endParaRPr/>
          </a:p>
        </p:txBody>
      </p:sp>
      <p:sp>
        <p:nvSpPr>
          <p:cNvPr id="1017916607" name="TextBox 22"/>
          <p:cNvSpPr txBox="1"/>
          <p:nvPr/>
        </p:nvSpPr>
        <p:spPr bwMode="auto">
          <a:xfrm>
            <a:off x="6691312" y="4200226"/>
            <a:ext cx="4600575" cy="258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  <a:defRPr/>
            </a:pPr>
            <a:r>
              <a:rPr sz="1300" b="1" i="0" u="none">
                <a:solidFill>
                  <a:srgbClr val="94A3B8"/>
                </a:solidFill>
                <a:latin typeface="Inter"/>
              </a:rPr>
              <a:t>Keyless:</a:t>
            </a:r>
            <a:r>
              <a:rPr sz="1300" b="0" i="0" u="none">
                <a:solidFill>
                  <a:srgbClr val="94A3B8"/>
                </a:solidFill>
                <a:latin typeface="Inter"/>
              </a:rPr>
              <a:t> Accessed by value rather than index.</a:t>
            </a:r>
            <a:endParaRPr/>
          </a:p>
        </p:txBody>
      </p:sp>
      <p:sp>
        <p:nvSpPr>
          <p:cNvPr id="721456121" name="TextBox 25"/>
          <p:cNvSpPr txBox="1"/>
          <p:nvPr/>
        </p:nvSpPr>
        <p:spPr bwMode="auto">
          <a:xfrm>
            <a:off x="538162" y="476249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700" b="1" i="0" u="none">
                <a:solidFill>
                  <a:srgbClr val="F8FAFC"/>
                </a:solidFill>
                <a:latin typeface="Plus Jakarta Sans"/>
              </a:rPr>
              <a:t>What is an ES6 Set?</a:t>
            </a:r>
            <a:endParaRPr/>
          </a:p>
        </p:txBody>
      </p:sp>
      <p:sp>
        <p:nvSpPr>
          <p:cNvPr id="1924694471" name="Rounded Rectangle 26"/>
          <p:cNvSpPr/>
          <p:nvPr/>
        </p:nvSpPr>
        <p:spPr bwMode="auto">
          <a:xfrm>
            <a:off x="538162" y="904874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6662055" name="Picture 4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76044" y="4589114"/>
            <a:ext cx="5381624" cy="1609723"/>
          </a:xfrm>
          <a:prstGeom prst="rect">
            <a:avLst/>
          </a:prstGeom>
        </p:spPr>
      </p:pic>
      <p:sp>
        <p:nvSpPr>
          <p:cNvPr id="896464915" name="TextBox 8"/>
          <p:cNvSpPr txBox="1"/>
          <p:nvPr/>
        </p:nvSpPr>
        <p:spPr bwMode="auto">
          <a:xfrm flipH="0" flipV="0">
            <a:off x="528737" y="4760564"/>
            <a:ext cx="377037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472B6"/>
                </a:solidFill>
                <a:latin typeface="Fira Code"/>
              </a:rPr>
              <a:t>const</a:t>
            </a:r>
            <a:endParaRPr/>
          </a:p>
        </p:txBody>
      </p:sp>
      <p:sp>
        <p:nvSpPr>
          <p:cNvPr id="766344844" name="TextBox 9"/>
          <p:cNvSpPr txBox="1"/>
          <p:nvPr/>
        </p:nvSpPr>
        <p:spPr bwMode="auto">
          <a:xfrm>
            <a:off x="1933394" y="4760564"/>
            <a:ext cx="8608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BBF24"/>
                </a:solidFill>
                <a:latin typeface="Fira Code"/>
              </a:rPr>
              <a:t>1</a:t>
            </a:r>
            <a:endParaRPr/>
          </a:p>
        </p:txBody>
      </p:sp>
      <p:sp>
        <p:nvSpPr>
          <p:cNvPr id="1370372627" name="TextBox 10"/>
          <p:cNvSpPr txBox="1"/>
          <p:nvPr/>
        </p:nvSpPr>
        <p:spPr bwMode="auto">
          <a:xfrm>
            <a:off x="2190569" y="4760564"/>
            <a:ext cx="8608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BBF24"/>
                </a:solidFill>
                <a:latin typeface="Fira Code"/>
              </a:rPr>
              <a:t>2</a:t>
            </a:r>
            <a:endParaRPr/>
          </a:p>
        </p:txBody>
      </p:sp>
      <p:sp>
        <p:nvSpPr>
          <p:cNvPr id="200081832" name="TextBox 11"/>
          <p:cNvSpPr txBox="1"/>
          <p:nvPr/>
        </p:nvSpPr>
        <p:spPr bwMode="auto">
          <a:xfrm>
            <a:off x="2447744" y="4760564"/>
            <a:ext cx="8608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BBF24"/>
                </a:solidFill>
                <a:latin typeface="Fira Code"/>
              </a:rPr>
              <a:t>2</a:t>
            </a:r>
            <a:endParaRPr/>
          </a:p>
        </p:txBody>
      </p:sp>
      <p:sp>
        <p:nvSpPr>
          <p:cNvPr id="168097271" name="TextBox 12"/>
          <p:cNvSpPr txBox="1"/>
          <p:nvPr/>
        </p:nvSpPr>
        <p:spPr bwMode="auto">
          <a:xfrm>
            <a:off x="2704919" y="4760564"/>
            <a:ext cx="8608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BBF24"/>
                </a:solidFill>
                <a:latin typeface="Fira Code"/>
              </a:rPr>
              <a:t>3</a:t>
            </a:r>
            <a:endParaRPr/>
          </a:p>
        </p:txBody>
      </p:sp>
      <p:sp>
        <p:nvSpPr>
          <p:cNvPr id="949490558" name="TextBox 13"/>
          <p:cNvSpPr txBox="1"/>
          <p:nvPr/>
        </p:nvSpPr>
        <p:spPr bwMode="auto">
          <a:xfrm>
            <a:off x="2962094" y="4760564"/>
            <a:ext cx="8608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BBF24"/>
                </a:solidFill>
                <a:latin typeface="Fira Code"/>
              </a:rPr>
              <a:t>4</a:t>
            </a:r>
            <a:endParaRPr/>
          </a:p>
        </p:txBody>
      </p:sp>
      <p:sp>
        <p:nvSpPr>
          <p:cNvPr id="1349655391" name="TextBox 14"/>
          <p:cNvSpPr txBox="1"/>
          <p:nvPr/>
        </p:nvSpPr>
        <p:spPr bwMode="auto">
          <a:xfrm>
            <a:off x="3219269" y="4760564"/>
            <a:ext cx="8608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BBF24"/>
                </a:solidFill>
                <a:latin typeface="Fira Code"/>
              </a:rPr>
              <a:t>4</a:t>
            </a:r>
            <a:endParaRPr/>
          </a:p>
        </p:txBody>
      </p:sp>
      <p:sp>
        <p:nvSpPr>
          <p:cNvPr id="1186383878" name="TextBox 15"/>
          <p:cNvSpPr txBox="1"/>
          <p:nvPr/>
        </p:nvSpPr>
        <p:spPr bwMode="auto">
          <a:xfrm>
            <a:off x="3476444" y="4760564"/>
            <a:ext cx="8608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BBF24"/>
                </a:solidFill>
                <a:latin typeface="Fira Code"/>
              </a:rPr>
              <a:t>5</a:t>
            </a:r>
            <a:endParaRPr/>
          </a:p>
        </p:txBody>
      </p:sp>
      <p:sp>
        <p:nvSpPr>
          <p:cNvPr id="593746462" name="TextBox 16"/>
          <p:cNvSpPr txBox="1"/>
          <p:nvPr/>
        </p:nvSpPr>
        <p:spPr bwMode="auto">
          <a:xfrm>
            <a:off x="476069" y="5189189"/>
            <a:ext cx="2743560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1" u="none">
                <a:solidFill>
                  <a:srgbClr val="64748B"/>
                </a:solidFill>
                <a:latin typeface="Fira Code"/>
              </a:rPr>
              <a:t>// One-liner array deduplication</a:t>
            </a:r>
            <a:endParaRPr/>
          </a:p>
        </p:txBody>
      </p:sp>
      <p:sp>
        <p:nvSpPr>
          <p:cNvPr id="1157335117" name="TextBox 17"/>
          <p:cNvSpPr txBox="1"/>
          <p:nvPr/>
        </p:nvSpPr>
        <p:spPr bwMode="auto">
          <a:xfrm>
            <a:off x="476069" y="5403501"/>
            <a:ext cx="42898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472B6"/>
                </a:solidFill>
                <a:latin typeface="Fira Code"/>
              </a:rPr>
              <a:t>const</a:t>
            </a:r>
            <a:endParaRPr/>
          </a:p>
        </p:txBody>
      </p:sp>
      <p:sp>
        <p:nvSpPr>
          <p:cNvPr id="1362741447" name="TextBox 18"/>
          <p:cNvSpPr txBox="1"/>
          <p:nvPr/>
        </p:nvSpPr>
        <p:spPr bwMode="auto">
          <a:xfrm flipH="0" flipV="0">
            <a:off x="2704919" y="5403501"/>
            <a:ext cx="397557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F472B6"/>
                </a:solidFill>
                <a:latin typeface="Fira Code"/>
              </a:rPr>
              <a:t>new</a:t>
            </a:r>
            <a:endParaRPr/>
          </a:p>
        </p:txBody>
      </p:sp>
      <p:sp>
        <p:nvSpPr>
          <p:cNvPr id="1429063354" name="TextBox 19"/>
          <p:cNvSpPr txBox="1"/>
          <p:nvPr/>
        </p:nvSpPr>
        <p:spPr bwMode="auto">
          <a:xfrm>
            <a:off x="3047819" y="5403501"/>
            <a:ext cx="25753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38BDF8"/>
                </a:solidFill>
                <a:latin typeface="Fira Code"/>
              </a:rPr>
              <a:t>Set</a:t>
            </a:r>
            <a:endParaRPr/>
          </a:p>
        </p:txBody>
      </p:sp>
      <p:sp>
        <p:nvSpPr>
          <p:cNvPr id="1773045672" name="TextBox 20"/>
          <p:cNvSpPr txBox="1"/>
          <p:nvPr/>
        </p:nvSpPr>
        <p:spPr bwMode="auto">
          <a:xfrm>
            <a:off x="1161869" y="5832126"/>
            <a:ext cx="257535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0" u="none">
                <a:solidFill>
                  <a:srgbClr val="38BDF8"/>
                </a:solidFill>
                <a:latin typeface="Fira Code"/>
              </a:rPr>
              <a:t>log</a:t>
            </a:r>
            <a:endParaRPr/>
          </a:p>
        </p:txBody>
      </p:sp>
      <p:sp>
        <p:nvSpPr>
          <p:cNvPr id="246520837" name="TextBox 21"/>
          <p:cNvSpPr txBox="1"/>
          <p:nvPr/>
        </p:nvSpPr>
        <p:spPr bwMode="auto">
          <a:xfrm>
            <a:off x="2876369" y="5832126"/>
            <a:ext cx="1543409" cy="214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6"/>
              </a:lnSpc>
              <a:defRPr/>
            </a:pPr>
            <a:r>
              <a:rPr sz="1150" b="0" i="1" u="none">
                <a:solidFill>
                  <a:srgbClr val="64748B"/>
                </a:solidFill>
                <a:latin typeface="Fira Code"/>
              </a:rPr>
              <a:t>// [1, 2, 3, 4, 5]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2241436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500465" y="59083"/>
            <a:ext cx="12192000" cy="6858000"/>
          </a:xfrm>
          <a:prstGeom prst="rect">
            <a:avLst/>
          </a:prstGeom>
        </p:spPr>
      </p:pic>
      <p:pic>
        <p:nvPicPr>
          <p:cNvPr id="1516311424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71500" y="2235695"/>
            <a:ext cx="8189415" cy="3081782"/>
          </a:xfrm>
          <a:prstGeom prst="rect">
            <a:avLst/>
          </a:prstGeom>
        </p:spPr>
      </p:pic>
      <p:graphicFrame>
        <p:nvGraphicFramePr>
          <p:cNvPr id="348423520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581025" y="2254746"/>
          <a:ext cx="11029949" cy="306273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499597"/>
                <a:gridCol w="2737654"/>
                <a:gridCol w="2815637"/>
                <a:gridCol w="126999"/>
              </a:tblGrid>
              <a:tr h="61254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5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Operation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5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Set Method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5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Array Equivalent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254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Check Existence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set.has(val)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arr.includes(val)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61254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Insert Element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set.add(val)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arr.push(val)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61254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Remove Element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set.delete(val)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arr.splice(index, 1)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6125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Enforce Uniqueness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Automatic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Manual </a:t>
                      </a: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indexOf</a:t>
                      </a:r>
                      <a:r>
                        <a:rPr sz="1300" b="0" i="0" u="none">
                          <a:solidFill>
                            <a:srgbClr val="94A3B8"/>
                          </a:solidFill>
                          <a:latin typeface="Inter"/>
                        </a:rPr>
                        <a:t> checks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849212" name="Rectangle 4"/>
          <p:cNvSpPr/>
          <p:nvPr/>
        </p:nvSpPr>
        <p:spPr bwMode="auto">
          <a:xfrm>
            <a:off x="581025" y="2867173"/>
            <a:ext cx="25906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2223349" name="Rectangle 5"/>
          <p:cNvSpPr/>
          <p:nvPr/>
        </p:nvSpPr>
        <p:spPr bwMode="auto">
          <a:xfrm>
            <a:off x="3171676" y="2867173"/>
            <a:ext cx="24799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1345967" name="Rectangle 6"/>
          <p:cNvSpPr/>
          <p:nvPr/>
        </p:nvSpPr>
        <p:spPr bwMode="auto">
          <a:xfrm>
            <a:off x="5651599" y="2867173"/>
            <a:ext cx="31093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1459888" name="Rectangle 8"/>
          <p:cNvSpPr/>
          <p:nvPr/>
        </p:nvSpPr>
        <p:spPr bwMode="auto">
          <a:xfrm>
            <a:off x="581025" y="3478559"/>
            <a:ext cx="25906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7465587" name="Rectangle 9"/>
          <p:cNvSpPr/>
          <p:nvPr/>
        </p:nvSpPr>
        <p:spPr bwMode="auto">
          <a:xfrm>
            <a:off x="3171676" y="3478559"/>
            <a:ext cx="24799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3139008" name="Rectangle 10"/>
          <p:cNvSpPr/>
          <p:nvPr/>
        </p:nvSpPr>
        <p:spPr bwMode="auto">
          <a:xfrm>
            <a:off x="5651599" y="3478559"/>
            <a:ext cx="31093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5365566" name="Rectangle 12"/>
          <p:cNvSpPr/>
          <p:nvPr/>
        </p:nvSpPr>
        <p:spPr bwMode="auto">
          <a:xfrm>
            <a:off x="581025" y="4089945"/>
            <a:ext cx="25906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8042441" name="Rectangle 13"/>
          <p:cNvSpPr/>
          <p:nvPr/>
        </p:nvSpPr>
        <p:spPr bwMode="auto">
          <a:xfrm>
            <a:off x="3171676" y="4089945"/>
            <a:ext cx="24799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855076" name="Rectangle 14"/>
          <p:cNvSpPr/>
          <p:nvPr/>
        </p:nvSpPr>
        <p:spPr bwMode="auto">
          <a:xfrm>
            <a:off x="5651599" y="4089945"/>
            <a:ext cx="31093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739209" name="Rectangle 16"/>
          <p:cNvSpPr/>
          <p:nvPr/>
        </p:nvSpPr>
        <p:spPr bwMode="auto">
          <a:xfrm>
            <a:off x="581025" y="4701331"/>
            <a:ext cx="259065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2804561" name="Rectangle 17"/>
          <p:cNvSpPr/>
          <p:nvPr/>
        </p:nvSpPr>
        <p:spPr bwMode="auto">
          <a:xfrm>
            <a:off x="3171676" y="4701331"/>
            <a:ext cx="24799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8059107" name="Rectangle 18"/>
          <p:cNvSpPr/>
          <p:nvPr/>
        </p:nvSpPr>
        <p:spPr bwMode="auto">
          <a:xfrm>
            <a:off x="5651599" y="4701331"/>
            <a:ext cx="31093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3339891" name="TextBox 24"/>
          <p:cNvSpPr txBox="1"/>
          <p:nvPr/>
        </p:nvSpPr>
        <p:spPr bwMode="auto"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700" b="1" i="0" u="none">
                <a:solidFill>
                  <a:srgbClr val="F8FAFC"/>
                </a:solidFill>
                <a:latin typeface="Plus Jakarta Sans"/>
              </a:rPr>
              <a:t>Set vs Array Performance</a:t>
            </a:r>
            <a:endParaRPr/>
          </a:p>
        </p:txBody>
      </p:sp>
      <p:sp>
        <p:nvSpPr>
          <p:cNvPr id="1781850018" name="Rounded Rectangle 25"/>
          <p:cNvSpPr/>
          <p:nvPr/>
        </p:nvSpPr>
        <p:spPr bwMode="auto">
          <a:xfrm>
            <a:off x="571500" y="90487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1565502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57603841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52500" y="2905720"/>
            <a:ext cx="10668000" cy="538162"/>
          </a:xfrm>
          <a:prstGeom prst="rect">
            <a:avLst/>
          </a:prstGeom>
        </p:spPr>
      </p:pic>
      <p:sp>
        <p:nvSpPr>
          <p:cNvPr id="623089812" name="TextBox 3"/>
          <p:cNvSpPr txBox="1"/>
          <p:nvPr/>
        </p:nvSpPr>
        <p:spPr bwMode="auto">
          <a:xfrm>
            <a:off x="952500" y="2589609"/>
            <a:ext cx="10668000" cy="854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  <a:defRPr/>
            </a:pPr>
            <a:r>
              <a:rPr sz="1300" b="1" i="0" u="none">
                <a:solidFill>
                  <a:srgbClr val="F8FAFC"/>
                </a:solidFill>
                <a:latin typeface="Inter"/>
              </a:rPr>
              <a:t>for...of Loops: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 Iterates directly through elements in insertion order.</a:t>
            </a:r>
            <a:endParaRPr/>
          </a:p>
        </p:txBody>
      </p:sp>
      <p:sp>
        <p:nvSpPr>
          <p:cNvPr id="851746609" name="TextBox 4"/>
          <p:cNvSpPr txBox="1"/>
          <p:nvPr/>
        </p:nvSpPr>
        <p:spPr bwMode="auto">
          <a:xfrm>
            <a:off x="952499" y="3634381"/>
            <a:ext cx="10669439" cy="259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  <a:defRPr/>
            </a:pPr>
            <a:r>
              <a:rPr sz="1300" b="1" i="0" u="none">
                <a:solidFill>
                  <a:srgbClr val="F8FAFC"/>
                </a:solidFill>
                <a:latin typeface="Inter"/>
              </a:rPr>
              <a:t>forEach Method: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 Supports array-like callback invocation</a:t>
            </a:r>
            <a:r>
              <a:rPr sz="1800" b="1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800" b="1" i="0" u="none">
                <a:solidFill>
                  <a:srgbClr val="CBD5E1"/>
                </a:solidFill>
                <a:latin typeface="Inter"/>
              </a:rPr>
              <a:t>set.forEach(value =&gt; ...)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.</a:t>
            </a:r>
            <a:endParaRPr/>
          </a:p>
        </p:txBody>
      </p:sp>
      <p:sp>
        <p:nvSpPr>
          <p:cNvPr id="1767978659" name="TextBox 6"/>
          <p:cNvSpPr txBox="1"/>
          <p:nvPr/>
        </p:nvSpPr>
        <p:spPr bwMode="auto">
          <a:xfrm>
            <a:off x="904874" y="4104678"/>
            <a:ext cx="1066800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  <a:defRPr/>
            </a:pPr>
            <a:r>
              <a:rPr sz="1300" b="1" i="0" u="none">
                <a:solidFill>
                  <a:srgbClr val="F8FAFC"/>
                </a:solidFill>
                <a:latin typeface="Inter"/>
              </a:rPr>
              <a:t>Spread Operator: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 Easily convert back to an array using 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[...mySet]</a:t>
            </a:r>
            <a:r>
              <a:rPr sz="1300" b="0" i="0" u="none">
                <a:solidFill>
                  <a:srgbClr val="CBD5E1"/>
                </a:solidFill>
                <a:latin typeface="Inter"/>
              </a:rPr>
              <a:t> for array manipulation methods.</a:t>
            </a:r>
            <a:endParaRPr/>
          </a:p>
        </p:txBody>
      </p:sp>
      <p:pic>
        <p:nvPicPr>
          <p:cNvPr id="838596340" name="Picture 7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1500" y="2613421"/>
            <a:ext cx="190500" cy="200025"/>
          </a:xfrm>
          <a:prstGeom prst="rect">
            <a:avLst/>
          </a:prstGeom>
        </p:spPr>
      </p:pic>
      <p:pic>
        <p:nvPicPr>
          <p:cNvPr id="1570032380" name="Picture 8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71500" y="3658195"/>
            <a:ext cx="238125" cy="200025"/>
          </a:xfrm>
          <a:prstGeom prst="rect">
            <a:avLst/>
          </a:prstGeom>
        </p:spPr>
      </p:pic>
      <p:pic>
        <p:nvPicPr>
          <p:cNvPr id="441356595" name="Picture 10" descr="imag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47687" y="4163613"/>
            <a:ext cx="238125" cy="200025"/>
          </a:xfrm>
          <a:prstGeom prst="rect">
            <a:avLst/>
          </a:prstGeom>
        </p:spPr>
      </p:pic>
      <p:sp>
        <p:nvSpPr>
          <p:cNvPr id="604817400" name="TextBox 11"/>
          <p:cNvSpPr txBox="1"/>
          <p:nvPr/>
        </p:nvSpPr>
        <p:spPr bwMode="auto"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700" b="1" i="0" u="none">
                <a:solidFill>
                  <a:srgbClr val="F8FAFC"/>
                </a:solidFill>
                <a:latin typeface="Plus Jakarta Sans"/>
              </a:rPr>
              <a:t>Iterating Over Sets</a:t>
            </a:r>
            <a:endParaRPr/>
          </a:p>
        </p:txBody>
      </p:sp>
      <p:sp>
        <p:nvSpPr>
          <p:cNvPr id="1311156154" name="Rounded Rectangle 12"/>
          <p:cNvSpPr/>
          <p:nvPr/>
        </p:nvSpPr>
        <p:spPr bwMode="auto">
          <a:xfrm>
            <a:off x="571500" y="904875"/>
            <a:ext cx="114300" cy="2667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0F1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192593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36219837" name="TextBox 2"/>
          <p:cNvSpPr txBox="1"/>
          <p:nvPr/>
        </p:nvSpPr>
        <p:spPr bwMode="auto">
          <a:xfrm>
            <a:off x="295274" y="2427982"/>
            <a:ext cx="116014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5400" b="1" i="0" u="none">
                <a:solidFill>
                  <a:srgbClr val="F8FAFC"/>
                </a:solidFill>
                <a:latin typeface="Plus Jakarta Sans"/>
              </a:rPr>
              <a:t>Questions &amp; Answers</a:t>
            </a:r>
            <a:endParaRPr/>
          </a:p>
        </p:txBody>
      </p:sp>
      <p:sp>
        <p:nvSpPr>
          <p:cNvPr id="1380367225" name="TextBox 3"/>
          <p:cNvSpPr txBox="1"/>
          <p:nvPr/>
        </p:nvSpPr>
        <p:spPr bwMode="auto">
          <a:xfrm>
            <a:off x="571500" y="3485257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Thank you for exploring ES6 Set in JavaScript!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2026-08-20T12:04:49Z</dcterms:modified>
  <cp:category/>
</cp:coreProperties>
</file>